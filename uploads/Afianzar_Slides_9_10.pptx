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920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NUDGING OPPORTUNITIES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Where we intervene — and how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Three moments of truth. Three targeted nudges that reduce friction, build trust, and move deals forward.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657600" cy="5102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64208"/>
            <a:ext cx="3657600" cy="109728"/>
          </a:xfrm>
          <a:prstGeom prst="rect">
            <a:avLst/>
          </a:prstGeom>
          <a:solidFill>
            <a:srgbClr val="E88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288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STAGE 04 · SUBMISSION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848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Submit once,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complete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30352" y="2816352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077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31455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30% of submissions arrive incomplete. Each missing doc triggers a full relay loop adding 1–3 days.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4041648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1330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nudge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437083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Profile-specific digital checklist. María submits one structured form — no email, no fragments, no guesswork.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5321808"/>
            <a:ext cx="3328416" cy="310896"/>
          </a:xfrm>
          <a:prstGeom prst="rect">
            <a:avLst/>
          </a:prstGeom>
          <a:solidFill>
            <a:srgbClr val="E8F4E8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5321808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Target: incomplete rate below 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5724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Measured via CES survey after each 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1664208"/>
            <a:ext cx="3657600" cy="5102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1664208"/>
            <a:ext cx="3657600" cy="109728"/>
          </a:xfrm>
          <a:prstGeom prst="rect">
            <a:avLst/>
          </a:prstGeom>
          <a:solidFill>
            <a:srgbClr val="0D1F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18288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STAGE 05 · REVIEW &amp; STUDY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7992" y="20848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End the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silence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07992" y="2816352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29077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07992" y="31455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4–24 hours of silence after submission. María has nothing to report. Tenants start considering other properties.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07992" y="4041648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1330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nudge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07992" y="437083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Automatic status update the moment the case is received and opened. Receipt confirmed within 1 hour.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07992" y="5321808"/>
            <a:ext cx="3328416" cy="310896"/>
          </a:xfrm>
          <a:prstGeom prst="rect">
            <a:avLst/>
          </a:prstGeom>
          <a:solidFill>
            <a:srgbClr val="E8F4E8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07992" y="5321808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Target: acknowledgment within 1 hour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07992" y="5724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Measured via CES survey after each application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21040" y="1664208"/>
            <a:ext cx="3657600" cy="5102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1664208"/>
            <a:ext cx="3657600" cy="109728"/>
          </a:xfrm>
          <a:prstGeom prst="rect">
            <a:avLst/>
          </a:prstGeom>
          <a:solidFill>
            <a:srgbClr val="E883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18288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STAGE 06 · DECISION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85632" y="208483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Break the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relay loop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485632" y="2816352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290779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85632" y="3145536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Any missing doc triggers a 4-actor chain adding 1–3 days. María deflects to Afianzar instead of managing Pepe.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485632" y="4041648"/>
            <a:ext cx="3328416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413308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5C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The nudge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85632" y="437083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Afianzar contacts Pepe directly for missing docs. María gets a notif. Loop eliminated — no relay required.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485632" y="5321808"/>
            <a:ext cx="3328416" cy="310896"/>
          </a:xfrm>
          <a:prstGeom prst="rect">
            <a:avLst/>
          </a:prstGeom>
          <a:solidFill>
            <a:srgbClr val="E8F4E8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5321808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Target: correction loop rate below 10%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85632" y="572414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Measured via CES survey after each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77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PROTOTYPES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Built for people first.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0299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0E8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Three nudges. One platform. Designed around María, Pepe, and the moments that cost deals.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578608"/>
            <a:ext cx="3657600" cy="3657600"/>
          </a:xfrm>
          <a:prstGeom prst="rect">
            <a:avLst/>
          </a:prstGeom>
          <a:solidFill>
            <a:srgbClr val="1A3070"/>
          </a:solidFill>
          <a:ln w="19050">
            <a:solidFill>
              <a:srgbClr val="E88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78608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Paste prototype here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Structured submission 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6638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E8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Stage 04 · Submission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0" y="2578608"/>
            <a:ext cx="3657600" cy="3657600"/>
          </a:xfrm>
          <a:prstGeom prst="rect">
            <a:avLst/>
          </a:prstGeom>
          <a:solidFill>
            <a:srgbClr val="1A3070"/>
          </a:solidFill>
          <a:ln w="19050">
            <a:solidFill>
              <a:srgbClr val="E883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578608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Paste prototype 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Real-time status tracker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6638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E8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Stage 05 · Review &amp; Study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321040" y="2578608"/>
            <a:ext cx="3657600" cy="3657600"/>
          </a:xfrm>
          <a:prstGeom prst="rect">
            <a:avLst/>
          </a:prstGeom>
          <a:solidFill>
            <a:srgbClr val="1A3070"/>
          </a:solidFill>
          <a:ln w="19050">
            <a:solidFill>
              <a:srgbClr val="E88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578608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Paste prototype here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6400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2A"/>
                </a:solidFill>
                <a:latin typeface="Helvetica Now Bold" pitchFamily="34" charset="0"/>
                <a:ea typeface="Helvetica Now Bold" pitchFamily="34" charset="-122"/>
                <a:cs typeface="Helvetica Now Bold" pitchFamily="34" charset="-120"/>
              </a:rPr>
              <a:t>Direct doc request to tenant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6638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E8"/>
                </a:solidFill>
                <a:latin typeface="Helvetica Now" pitchFamily="34" charset="0"/>
                <a:ea typeface="Helvetica Now" pitchFamily="34" charset="-122"/>
                <a:cs typeface="Helvetica Now" pitchFamily="34" charset="-120"/>
              </a:rPr>
              <a:t>Stage 06 · Decision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2026-05-21T20:20:31Z</dcterms:created>
  <dcterms:modified xsi:type="dcterms:W3CDTF">2026-05-21T20:20:31Z</dcterms:modified>
</cp:coreProperties>
</file>